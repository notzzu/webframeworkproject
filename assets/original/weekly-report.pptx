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2222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222222"/>
                </a:solidFill>
                <a:latin typeface="+mn-lt"/>
              </a:rPr>
              <a:t>전주 대비 진행률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전주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2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구현 화면</c:v>
                  </c:pt>
                  <c:pt idx="1">
                    <c:v>시험 통과율</c:v>
                  </c:pt>
                  <c:pt idx="2">
                    <c:v>단계 진행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42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금주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2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구현 화면</c:v>
                  </c:pt>
                  <c:pt idx="1">
                    <c:v>시험 통과율</c:v>
                  </c:pt>
                  <c:pt idx="2">
                    <c:v>단계 진행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50</c:v>
                </c:pt>
                <c:pt idx="1">
                  <c:v>68</c:v>
                </c:pt>
                <c:pt idx="2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222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2222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2222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222222"/>
                </a:solidFill>
                <a:latin typeface="+mn-lt"/>
              </a:rPr>
              <a:t>수준별 통과율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전주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2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단위</c:v>
                  </c:pt>
                  <c:pt idx="1">
                    <c:v>통합</c:v>
                  </c:pt>
                  <c:pt idx="2">
                    <c:v>시스템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</c:v>
                </c:pt>
                <c:pt idx="1">
                  <c:v>48</c:v>
                </c:pt>
                <c:pt idx="2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금주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2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단위</c:v>
                  </c:pt>
                  <c:pt idx="1">
                    <c:v>통합</c:v>
                  </c:pt>
                  <c:pt idx="2">
                    <c:v>시스템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56</c:v>
                </c:pt>
                <c:pt idx="1">
                  <c:v>81</c:v>
                </c:pt>
                <c:pt idx="2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222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2222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전주 기준값은 이번 주 공격 시험 착수 직전 시점(커밋 dbefd7d)의 시험 목록을 같은 방식으로 재집계한 값. 시험 통과율은 시험 케이스 등록 건 기준. 8단계 계획은 합의한 8단계 중 완료 단계 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수준별 통과율 = 통과 건수 ÷ 등록 건수. 시스템 시험은 실제 브라우저로 화면을 조작하는 시험.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위험도 기준: 높음=타인 계정 접근·데이터 오염 가능, 중간=서비스 오류·정보 노출, 낮음=입력 품질·화면. 결함 상세는 docs/defect-log.md.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모두 위험도 높음. 그 외 DF-05~12는 결함 대장에 상세 기록.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시험을 5~8회 반복 실행해 간헐 실패가 없음을 확인. DF-15는 DF-02 조치가 동시 요청에서 깨진 회귀 결함.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로그인 제한은 서버 메모리에 저장되므로 재시작 시 초기화. 기한 미정 항목은 6~8단계 진행 중 확정.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브라우저 자동화(E2E)로 클릭 흐름을 검증했고 캡처는 시험 실행 중 자동 저장.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 보고  |  자동화 검증시스템 서비스 개선 및 확장 기능 개발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 보고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288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자동화 검증시스템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서비스 개선 및 확장 기능 개발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웹프레임워크 프로젝트  1~5단계 진행 결과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이상현  |  인하공업전문대학  |  2026.10.25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개발 진도 상황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40233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1234440"/>
          <a:ext cx="41605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731520"/>
                <a:gridCol w="822960"/>
                <a:gridCol w="640080"/>
                <a:gridCol w="1005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지표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전주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금주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증감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상태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구현 화면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2/8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4/8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+25%p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6B"/>
                          </a:solidFill>
                        </a:rPr>
                        <a:t>계획대로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시험 통과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66/158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138/202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+26%p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6B"/>
                          </a:solidFill>
                        </a:rPr>
                        <a:t>진행 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개발 단계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0/8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5/8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+63%p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6B"/>
                          </a:solidFill>
                        </a:rPr>
                        <a:t>계획대로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3154680"/>
          <a:ext cx="4160520" cy="914400"/>
        </p:xfrm>
        <a:graphic>
          <a:graphicData uri="http://schemas.openxmlformats.org/drawingml/2006/table">
            <a:tbl>
              <a:tblPr/>
              <a:tblGrid>
                <a:gridCol w="41605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계획 대비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구현 화면: 이번 주 계획 4/8, 실적 4/8 (편차 0%p)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개발 단계: 이번 주 계획 1~5단계, 실적 5/5 완료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시험 통과: 목표 비율 미설정, 잔여 64건은 구현 전 시험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1"/>
          <p:cNvSpPr txBox="1"/>
          <p:nvPr/>
        </p:nvSpPr>
        <p:spPr>
          <a:xfrm>
            <a:off x="457200" y="46451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전주: 이번 주 작업 착수 직전 시점의 시험 목록을 같은 방식으로 재집계한 값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세부 진행 내역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22960"/>
                <a:gridCol w="822960"/>
                <a:gridCol w="822960"/>
                <a:gridCol w="3566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전주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금주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증감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비고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SC-01 로그인·회원가입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완료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완료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공격 시험으로 결함 수정 (DF-01~04 등)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SC-02 대시보드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완료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완료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공격 시험 통과, 입력 검증 보강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SC-04 시험 신청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미착수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완료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6B"/>
                          </a:solidFill>
                        </a:rPr>
                        <a:t>신규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동시 중복 신청 차단 (DF-13)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SC-05 진행 현황·심사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미착수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완료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6B"/>
                          </a:solidFill>
                        </a:rPr>
                        <a:t>신규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동시 승인·반려 차단 (DF-14)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SC-03·06·07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미착수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미착수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6단계 예정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AWS 배포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운영 중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운영 중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HTTPS, main 병합 후 3분 내 자동 반영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시험·품질 현황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40233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1325880"/>
          <a:ext cx="41605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325880"/>
                <a:gridCol w="1005840"/>
                <a:gridCol w="1005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수준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대상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전주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금주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단위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기능 하나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40/111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64/115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통합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기능 연결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19/40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56/69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시스템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브라우저 조작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7/7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18/18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합계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66/158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138/202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3566160"/>
          <a:ext cx="4160520" cy="914400"/>
        </p:xfrm>
        <a:graphic>
          <a:graphicData uri="http://schemas.openxmlformats.org/drawingml/2006/table">
            <a:tbl>
              <a:tblPr/>
              <a:tblGrid>
                <a:gridCol w="41605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분석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증가 44건: 공격 시험 28건 + SC-04·05 시험 16건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통과 증가 72건: 구현 완료로 구현 전(Red) 해소 + 신규 시험 통과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잔여 구현 전 64건: SC-03·06·07, 통합 흐름 시험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결함 현황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40080"/>
                <a:gridCol w="1280160"/>
                <a:gridCol w="2651760"/>
                <a:gridCol w="2286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영역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건수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높음/중간/낮음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원인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조치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입력 값 처리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 / 3 / 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길이·형식·깊이 검증 부재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6B"/>
                          </a:solidFill>
                        </a:rPr>
                        <a:t>검증 규칙 추가, 본문 64KB 제한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로그인·보안 설정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4 / 2 / 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길이 한계, 횟수 제한 부재, 세션 서버 미관리, 기본값 의존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6B"/>
                          </a:solidFill>
                        </a:rPr>
                        <a:t>가입 길이 제한, 5회 잠금, 서버 세션 표, 헤더 추가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동시 요청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3 / 0 / 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확인과 저장이 분리된 처리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6B"/>
                          </a:solidFill>
                        </a:rPr>
                        <a:t>DB 유니크 인덱스, 조건부 UPDATE, 일괄 처리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화면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 / 0 / 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스타일이 숨김 속성을 덮어씀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6B"/>
                          </a:solidFill>
                        </a:rPr>
                        <a:t>숨김 속성 우선 적용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합계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7 / 5 / 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발견 15건, 수정 15건, 미수정 0건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6451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높음 7건(DF-01~04, 13~15)은 첨부 1~7에 수정 전·후 화면 수록. 동시 요청 시험은 5~8회 반복 실행.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이슈 현황 1  인증·세션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97280"/>
                <a:gridCol w="2926080"/>
                <a:gridCol w="146304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상황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현상·원인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영향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조치·상태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DF-01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→ 첨부 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비밀번호 로그인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72바이트 초과분 미검증, 멀티바이트 문자 포함 시 뒷부분이 달라도 로그인 성공 (bcrypt 길이 한계)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일부만 맞는 비밀번호로 계정 접근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6B"/>
                          </a:solidFill>
                        </a:rPr>
                        <a:t>72바이트 초과 가입 거절, 완료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DF-02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→ 첨부 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로그인 반복 시도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횟수 제한 없음, 무제한 입력 (검사 로직 부재)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비밀번호 대입 공격 노출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6B"/>
                          </a:solidFill>
                        </a:rPr>
                        <a:t>5회 실패 시 429·잠금, 완료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DF-03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→ 첨부 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로그아웃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로그아웃 후에도 기존 세션 쿠키로 접근 (서버가 세션 상태 미보관)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쿠키 탈취 시 계속 접근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6B"/>
                          </a:solidFill>
                        </a:rPr>
                        <a:t>서버 세션 표에서 즉시 폐기, 완료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DF-04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→ 첨부 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세션 쿠키 서명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기본 SECRET_KEY로 임의 사용자 쿠키 생성 가능 (키 하드코딩)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타인 계정 위장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6B"/>
                          </a:solidFill>
                        </a:rPr>
                        <a:t>키 미설정 시 기동 거부, 완료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첨부 1  DF-01 비밀번호 72바이트 초과</a:t>
            </a:r>
            <a:endParaRPr lang="en-US" sz="2400" dirty="0"/>
          </a:p>
        </p:txBody>
      </p:sp>
      <p:pic>
        <p:nvPicPr>
          <p:cNvPr id="3" name="수정 전 DF-01" descr="/tmp/claude-0/-home-claude/3a71d73d-bd07-5caa-ab12-9db4f278d76e/scratchpad/ev/img/df01_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023360" cy="2011680"/>
          </a:xfrm>
          <a:prstGeom prst="rect">
            <a:avLst/>
          </a:prstGeom>
        </p:spPr>
      </p:pic>
      <p:pic>
        <p:nvPicPr>
          <p:cNvPr id="4" name="수정 후 DF-01" descr="/tmp/claude-0/-home-claude/3a71d73d-bd07-5caa-ab12-9db4f278d76e/scratchpad/ev/img/df01_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88720"/>
            <a:ext cx="4023360" cy="201168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10128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554480"/>
                <a:gridCol w="2468880"/>
                <a:gridCol w="15544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재현 절차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기대 결과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실제 결과 (수정 전)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영향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72바이트 초과 비밀번호로 가입 후, 끝 글자만 바꿔 로그인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로그인 거절 (401)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8442F"/>
                          </a:solidFill>
                        </a:rPr>
                        <a:t>200 로그인 성공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일부만 맞는 비밀번호로 계정 접근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457200" y="46451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환경: 로컬 재현용 서버, 수정 전 커밋 dbefd7d, 수정 후 7b53b21. 이미지는 실제 요청·응답 기록을 옮긴 것(쿠키·키 값 마스킹).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첨부 2  DF-02 로그인 횟수 제한 없음</a:t>
            </a:r>
            <a:endParaRPr lang="en-US" sz="2400" dirty="0"/>
          </a:p>
        </p:txBody>
      </p:sp>
      <p:pic>
        <p:nvPicPr>
          <p:cNvPr id="3" name="수정 전 DF-02" descr="/tmp/claude-0/-home-claude/3a71d73d-bd07-5caa-ab12-9db4f278d76e/scratchpad/ev/img/df02_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023360" cy="2011680"/>
          </a:xfrm>
          <a:prstGeom prst="rect">
            <a:avLst/>
          </a:prstGeom>
        </p:spPr>
      </p:pic>
      <p:pic>
        <p:nvPicPr>
          <p:cNvPr id="4" name="수정 후 DF-02" descr="/tmp/claude-0/-home-claude/3a71d73d-bd07-5caa-ab12-9db4f278d76e/scratchpad/ev/img/df02_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88720"/>
            <a:ext cx="4023360" cy="201168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10128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554480"/>
                <a:gridCol w="2468880"/>
                <a:gridCol w="15544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재현 절차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기대 결과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실제 결과 (수정 전)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영향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같은 계정에 틀린 비밀번호 12회 입력 후 올바른 비밀번호 입력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5회 실패 후 차단 (429)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8442F"/>
                          </a:solidFill>
                        </a:rPr>
                        <a:t>12회 모두 401, 이어서 200 로그인 성공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비밀번호 대입 공격 노출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457200" y="46451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환경: 로컬 재현용 서버, 수정 전 커밋 dbefd7d, 수정 후 7b53b21. 이미지는 실제 요청·응답 기록을 옮긴 것(쿠키·키 값 마스킹).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첨부 3  DF-03 로그아웃 후 쿠키 재사용</a:t>
            </a:r>
            <a:endParaRPr lang="en-US" sz="2400" dirty="0"/>
          </a:p>
        </p:txBody>
      </p:sp>
      <p:pic>
        <p:nvPicPr>
          <p:cNvPr id="3" name="수정 전 DF-03" descr="/tmp/claude-0/-home-claude/3a71d73d-bd07-5caa-ab12-9db4f278d76e/scratchpad/ev/img/df03_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023360" cy="2011680"/>
          </a:xfrm>
          <a:prstGeom prst="rect">
            <a:avLst/>
          </a:prstGeom>
        </p:spPr>
      </p:pic>
      <p:pic>
        <p:nvPicPr>
          <p:cNvPr id="4" name="수정 후 DF-03" descr="/tmp/claude-0/-home-claude/3a71d73d-bd07-5caa-ab12-9db4f278d76e/scratchpad/ev/img/df03_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88720"/>
            <a:ext cx="4023360" cy="201168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10128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554480"/>
                <a:gridCol w="2468880"/>
                <a:gridCol w="15544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재현 절차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기대 결과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실제 결과 (수정 전)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영향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로그인 후 쿠키 복사, 로그아웃, 복사한 쿠키로 /dashboard 접속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로그인 화면으로 이동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8442F"/>
                          </a:solidFill>
                        </a:rPr>
                        <a:t>대시보드 화면 표시 (같은 계정)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쿠키 탈취 시 계속 접근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457200" y="46451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환경: 로컬 재현용 서버, 수정 전 커밋 dbefd7d, 수정 후 7b53b21. 화면은 브라우저 실제 캡처.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첨부 4  DF-04 기본 서명키로 쿠키 위조</a:t>
            </a:r>
            <a:endParaRPr lang="en-US" sz="2400" dirty="0"/>
          </a:p>
        </p:txBody>
      </p:sp>
      <p:pic>
        <p:nvPicPr>
          <p:cNvPr id="3" name="수정 전 DF-04" descr="/tmp/claude-0/-home-claude/3a71d73d-bd07-5caa-ab12-9db4f278d76e/scratchpad/ev/img/df04_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023360" cy="2011680"/>
          </a:xfrm>
          <a:prstGeom prst="rect">
            <a:avLst/>
          </a:prstGeom>
        </p:spPr>
      </p:pic>
      <p:pic>
        <p:nvPicPr>
          <p:cNvPr id="4" name="수정 후 DF-04" descr="/tmp/claude-0/-home-claude/3a71d73d-bd07-5caa-ab12-9db4f278d76e/scratchpad/ev/img/df04_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88720"/>
            <a:ext cx="4023360" cy="2011680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10128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554480"/>
                <a:gridCol w="2468880"/>
                <a:gridCol w="15544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재현 절차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기대 결과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실제 결과 (수정 전)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영향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소스의 기본 키로 사용자 번호 5의 쿠키 서명 후 /api/auth/me 요청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인증 실패 (401)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8442F"/>
                          </a:solidFill>
                        </a:rPr>
                        <a:t>200, 기관 사용자 victim_inst 로 인증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타인 계정 위장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457200" y="46451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환경: 로컬 재현용 서버, 수정 전 커밋 dbefd7d, 수정 후 7b53b21. 이미지는 실제 요청·응답 기록을 옮긴 것(쿠키·키 값 마스킹).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이슈 현황 2  동시 요청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645920"/>
                <a:gridCol w="2743200"/>
                <a:gridCol w="1188720"/>
                <a:gridCol w="1737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상황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현상·원인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영향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조치·상태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DF-13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→ 첨부 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시험 신청 (규칙: 같은 알고리즘은 진행 중 1건)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16건 동시 요청 시 중복 신청 6건 저장(재현 결과) (중복 확인과 저장 사이에 요청 유입)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중복 데이터 저장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6B"/>
                          </a:solidFill>
                        </a:rPr>
                        <a:t>DB 부분 유니크 인덱스, 완료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DF-14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→ 첨부 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심사 (승인·반려)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한 신청에 승인·반려 동시 처리 시 둘 다 성공 (상태 확인 후 갱신)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이력 불일치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6B"/>
                          </a:solidFill>
                        </a:rPr>
                        <a:t>상태 조건부 UPDATE, 완료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DF-15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→ 첨부 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로그인 5회 제한 (DF-02 조치)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24건 동시 시도 시 5회 초과 통과 (확인과 횟수 증가 분리), 회귀 결함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대입 공격 재노출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6B"/>
                          </a:solidFill>
                        </a:rPr>
                        <a:t>확인·증가 일괄 처리, 완료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첨부 5  DF-13 시험 신청 중복 저장</a:t>
            </a:r>
            <a:endParaRPr lang="en-US" sz="2400" dirty="0"/>
          </a:p>
        </p:txBody>
      </p:sp>
      <p:pic>
        <p:nvPicPr>
          <p:cNvPr id="3" name="수정 전 DF-13" descr="/tmp/claude-0/-home-claude/3a71d73d-bd07-5caa-ab12-9db4f278d76e/scratchpad/ev/img/df13_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023360" cy="2011680"/>
          </a:xfrm>
          <a:prstGeom prst="rect">
            <a:avLst/>
          </a:prstGeom>
        </p:spPr>
      </p:pic>
      <p:pic>
        <p:nvPicPr>
          <p:cNvPr id="4" name="수정 후 DF-13" descr="/tmp/claude-0/-home-claude/3a71d73d-bd07-5caa-ab12-9db4f278d76e/scratchpad/ev/img/df13_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88720"/>
            <a:ext cx="4023360" cy="201168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10128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554480"/>
                <a:gridCol w="2468880"/>
                <a:gridCol w="15544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재현 절차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기대 결과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실제 결과 (수정 전)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영향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같은 계정이 같은 알고리즘(AES) 신청 16건 동시 전송 후 현황 조회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진행 중 신청 1건만 저장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8442F"/>
                          </a:solidFill>
                        </a:rPr>
                        <a:t>201 응답 6건, 목록 6건 저장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중복 데이터 저장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457200" y="46451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환경: 로컬 재현용 서버, 수정 전 커밋 b2572a1, 수정 후 7b53b21. 화면은 브라우저 실제 캡처.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첨부 6  DF-14 승인·반려 동시 처리</a:t>
            </a:r>
            <a:endParaRPr lang="en-US" sz="2400" dirty="0"/>
          </a:p>
        </p:txBody>
      </p:sp>
      <p:pic>
        <p:nvPicPr>
          <p:cNvPr id="3" name="수정 전 DF-14" descr="/tmp/claude-0/-home-claude/3a71d73d-bd07-5caa-ab12-9db4f278d76e/scratchpad/ev/img/df14_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023360" cy="2011680"/>
          </a:xfrm>
          <a:prstGeom prst="rect">
            <a:avLst/>
          </a:prstGeom>
        </p:spPr>
      </p:pic>
      <p:pic>
        <p:nvPicPr>
          <p:cNvPr id="4" name="수정 후 DF-14" descr="/tmp/claude-0/-home-claude/3a71d73d-bd07-5caa-ab12-9db4f278d76e/scratchpad/ev/img/df14_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88720"/>
            <a:ext cx="4023360" cy="201168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10128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554480"/>
                <a:gridCol w="2468880"/>
                <a:gridCol w="15544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재현 절차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기대 결과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실제 결과 (수정 전)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영향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한 신청에 승인·반려 요청 16건 동시 전송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먼저 처리된 1건만 성공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8442F"/>
                          </a:solidFill>
                        </a:rPr>
                        <a:t>200 응답 3건 (승인, 반려, 승인)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심사 이력 불일치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457200" y="46451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환경: 로컬 재현용 서버, 수정 전 커밋 b2572a1, 수정 후 7b53b21. 이미지는 실제 요청·응답 기록을 옮긴 것(쿠키·키 값 마스킹).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첨부 7  DF-15 동시 요청 시 횟수 제한 우회</a:t>
            </a:r>
            <a:endParaRPr lang="en-US" sz="2400" dirty="0"/>
          </a:p>
        </p:txBody>
      </p:sp>
      <p:pic>
        <p:nvPicPr>
          <p:cNvPr id="3" name="수정 전 DF-15" descr="/tmp/claude-0/-home-claude/3a71d73d-bd07-5caa-ab12-9db4f278d76e/scratchpad/ev/img/df15_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023360" cy="2011680"/>
          </a:xfrm>
          <a:prstGeom prst="rect">
            <a:avLst/>
          </a:prstGeom>
        </p:spPr>
      </p:pic>
      <p:pic>
        <p:nvPicPr>
          <p:cNvPr id="4" name="수정 후 DF-15" descr="/tmp/claude-0/-home-claude/3a71d73d-bd07-5caa-ab12-9db4f278d76e/scratchpad/ev/img/df15_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88720"/>
            <a:ext cx="4023360" cy="2011680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10128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554480"/>
                <a:gridCol w="2468880"/>
                <a:gridCol w="15544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재현 절차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기대 결과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실제 결과 (수정 전)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영향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같은 계정에 틀린 비밀번호 24건 동시 전송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5건만 검증, 나머지 429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8442F"/>
                          </a:solidFill>
                        </a:rPr>
                        <a:t>401 24건, 429 0건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대입 공격 재노출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457200" y="46451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환경: 로컬 재현용 서버, 수정 전 커밋 b2572a1, 수정 후 7b53b21. 이미지는 실제 요청·응답 기록을 옮긴 것(쿠키·키 값 마스킹).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리스크 현황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645920"/>
                <a:gridCol w="2011680"/>
                <a:gridCol w="155448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원인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영향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대응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담당·기한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로그인 제한 메모리 기반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횟수를 서버 메모리에 저장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재시작 시 초기화, 타인 계정 고의 잠금 가능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운영 시 DB·Redis로 이전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이상현, 운영 단계(범위 외)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HTTP(IP) 로그인 불가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Secure 쿠키 기본 적용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HTTP 주소에서 로그인 안 됨 (의도한 동작)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HTTPS(CloudFront) 주소 사용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해당 없음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CSP 부분 적용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화면에 인라인 스크립트 존재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frame-ancestors만 적용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스크립트 분리 후 확대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이상현, 미정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클라우드 비용·구현 전 64건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실행 중 요금 발생, 화면 3개 미구현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예산 초과 시 서버 자동 정지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발표 후 스택 삭제, 포트 정리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이상현, 발표 직후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구현 화면</a:t>
            </a:r>
            <a:endParaRPr lang="en-US" sz="2400" dirty="0"/>
          </a:p>
        </p:txBody>
      </p:sp>
      <p:pic>
        <p:nvPicPr>
          <p:cNvPr id="4" name="SC-04 시험 신청 완료" descr="/tmp/claude-0/-home-claude/3a71d73d-bd07-5caa-ab12-9db4f278d76e/scratchpad/repo-clone/webservice/test-artifacts/sc04_1_suc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069080" cy="254203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9319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SC-04 시험 신청 완료</a:t>
            </a:r>
            <a:endParaRPr lang="en-US" sz="1400" dirty="0"/>
          </a:p>
        </p:txBody>
      </p:sp>
      <p:pic>
        <p:nvPicPr>
          <p:cNvPr id="6" name="SC-05 심사(승인·반려)" descr="/tmp/claude-0/-home-claude/3a71d73d-bd07-5caa-ab12-9db4f278d76e/scratchpad/repo-clone/webservice/test-artifacts/sc05_3_re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280160"/>
            <a:ext cx="4069080" cy="2542032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4617720" y="39319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SC-05 심사(승인·반려)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차주 계획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297680"/>
                <a:gridCol w="182880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단계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목표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담당·기한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SC-03 가명·익명정보, SC-06 검증서 이력, SC-07 위변조 탐지: 화면별 공격 시험 선작성 후 구현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구현 화면 7/8 (88%)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이상현, 차주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통합 시험 정리: 전체 흐름(IT-31), 기초 데이터(IT-32), 잔여 구현 전 시험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구현 전 64건 해소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이상현, 6단계 후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최종 보고서 작성 (결함 대장 기반)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보고서 1부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이상현, 7단계 후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부록  프로젝트 개요·용어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51206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29768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</a:rPr>
                        <a:t>배경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국가보안기술연구소의 암호 제품 시험 온라인 서비스 개선·확장 과업지시서를 학습용으로 재구성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</a:rPr>
                        <a:t>목표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웹 서비스 구현 + 자동 시험 프레임워크 구축 (15주, 1인)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</a:rPr>
                        <a:t>범위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포함: 로그인, 시험 신청·조회, 가명·익명 처리, 검증서 이력, 위변조 표시(더미 데이터) / 제외: 실제 암호 시험 로직, 실제 개인정보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</a:rPr>
                        <a:t>방식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TDD(시험 먼저 작성), 한 화면씩 구현 후 보고, 시험 전부 통과 시 main 자동 병합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234440"/>
          <a:ext cx="29260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011680"/>
              </a:tblGrid>
              <a:tr h="32004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</a:rPr>
                        <a:t>용어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 hMerge="1"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CAVP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암호 알고리즘 구현 적합성 시험 제도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검증서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시험 통과 제품에 발급하는 증명 문서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가명·익명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개인을 알아볼 수 없게 바꾼 정보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결함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의도와 다른 동작, 보안 약점 포함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Red/Green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시험 구현 전 / 통과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ekly Report">
  <a:themeElements>
    <a:clrScheme name="Weekly Report">
      <a:dk1>
        <a:srgbClr val="222222"/>
      </a:dk1>
      <a:lt1>
        <a:srgbClr val="FFFFFF"/>
      </a:lt1>
      <a:dk2>
        <a:srgbClr val="1F3A5F"/>
      </a:dk2>
      <a:lt2>
        <a:srgbClr val="F4F5F7"/>
      </a:lt2>
      <a:accent1>
        <a:srgbClr val="1F3A5F"/>
      </a:accent1>
      <a:accent2>
        <a:srgbClr val="C8442F"/>
      </a:accent2>
      <a:accent3>
        <a:srgbClr val="2E7D6B"/>
      </a:accent3>
      <a:accent4>
        <a:srgbClr val="B7791F"/>
      </a:accent4>
      <a:accent5>
        <a:srgbClr val="6B7280"/>
      </a:accent5>
      <a:accent6>
        <a:srgbClr val="9CA3AF"/>
      </a:accent6>
      <a:hlink>
        <a:srgbClr val="1F3A5F"/>
      </a:hlink>
      <a:folHlink>
        <a:srgbClr val="6B7280"/>
      </a:folHlink>
    </a:clrScheme>
    <a:fontScheme name="Weekly Repor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주간 보고 - 자동화 검증시스템</dc:title>
  <dc:subject>PptxGenJS Presentation</dc:subject>
  <dc:creator>이상현</dc:creator>
  <cp:lastModifiedBy>이상현</cp:lastModifiedBy>
  <cp:revision>1</cp:revision>
  <dcterms:created xsi:type="dcterms:W3CDTF">2026-10-25T14:00:18Z</dcterms:created>
  <dcterms:modified xsi:type="dcterms:W3CDTF">2026-10-25T14:00:18Z</dcterms:modified>
</cp:coreProperties>
</file>